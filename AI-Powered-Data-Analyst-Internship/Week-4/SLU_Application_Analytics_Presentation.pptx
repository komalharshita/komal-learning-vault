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280" y="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9779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0"/>
            <a:ext cx="1728788" cy="51435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7319" y="841772"/>
            <a:ext cx="6593681" cy="179070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7319" y="2701528"/>
            <a:ext cx="6593681" cy="1241822"/>
          </a:xfrm>
        </p:spPr>
        <p:txBody>
          <a:bodyPr>
            <a:normAutofit/>
          </a:bodyPr>
          <a:lstStyle>
            <a:lvl1pPr marL="0" indent="0" algn="l">
              <a:buNone/>
              <a:defRPr sz="1500" cap="all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08133" y="4057651"/>
            <a:ext cx="2057400" cy="273844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07318" y="4057651"/>
            <a:ext cx="3843665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2684" y="4057650"/>
            <a:ext cx="578317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8964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1537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064420"/>
            <a:ext cx="7429500" cy="2139553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318272"/>
            <a:ext cx="7429500" cy="1031082"/>
          </a:xfrm>
        </p:spPr>
        <p:txBody>
          <a:bodyPr>
            <a:normAutofit/>
          </a:bodyPr>
          <a:lstStyle>
            <a:lvl1pPr marL="0" indent="0">
              <a:buNone/>
              <a:defRPr sz="135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3132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1687114"/>
            <a:ext cx="3658792" cy="26562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687114"/>
            <a:ext cx="3656408" cy="26562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4179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64345"/>
            <a:ext cx="7429500" cy="11084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515" y="1687115"/>
            <a:ext cx="3487337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2305048"/>
            <a:ext cx="3658793" cy="2038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6" y="1687114"/>
            <a:ext cx="3484952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05048"/>
            <a:ext cx="3656408" cy="2038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9556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5342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827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457201"/>
            <a:ext cx="2892028" cy="122991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444499"/>
            <a:ext cx="4418407" cy="389890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1687114"/>
            <a:ext cx="2892028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5144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4450881" cy="122991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5541" y="457201"/>
            <a:ext cx="2750018" cy="38861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1687114"/>
            <a:ext cx="4450883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3925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3228499"/>
            <a:ext cx="7434266" cy="614516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454819"/>
            <a:ext cx="7434266" cy="2474834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3843015"/>
            <a:ext cx="7433144" cy="51185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8019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457200"/>
            <a:ext cx="7429466" cy="257175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314700"/>
            <a:ext cx="7428344" cy="1028699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1703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061322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524168"/>
            <a:ext cx="656422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232439"/>
            <a:ext cx="7429502" cy="1117122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677634" y="54929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3028" y="207372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04630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600531"/>
            <a:ext cx="7429501" cy="1883876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3493241"/>
            <a:ext cx="7428379" cy="855483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6578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005847"/>
            <a:ext cx="2397674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45939" y="2520197"/>
            <a:ext cx="2406551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008226"/>
            <a:ext cx="2388289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78160" y="2522576"/>
            <a:ext cx="2396873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005847"/>
            <a:ext cx="2396226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2520197"/>
            <a:ext cx="2396226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9921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457200"/>
            <a:ext cx="7429499" cy="1428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3303447"/>
            <a:ext cx="239643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000249"/>
            <a:ext cx="2396430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3735644"/>
            <a:ext cx="2396430" cy="61338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3303447"/>
            <a:ext cx="240030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000249"/>
            <a:ext cx="2399205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3735643"/>
            <a:ext cx="2400300" cy="60775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3303446"/>
            <a:ext cx="2393056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000249"/>
            <a:ext cx="2396227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3735641"/>
            <a:ext cx="2396226" cy="60775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5639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8272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457200"/>
            <a:ext cx="1503758" cy="3886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457200"/>
            <a:ext cx="5811443" cy="3886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3958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70703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0716" y="0"/>
            <a:ext cx="9040416" cy="51435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1687115"/>
            <a:ext cx="7429499" cy="265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6664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highlight>
                  <a:srgbClr val="00808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SLU Application Analytics</a:t>
            </a:r>
            <a:endParaRPr lang="en-US" sz="4800" dirty="0">
              <a:highlight>
                <a:srgbClr val="008080"/>
              </a:highlight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Insights for Strategic Program Optimization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3373655"/>
            <a:ext cx="27432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 | Final Presentation | March 2026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Objective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SLU opportunity programs face unpredictable application patterns and wide acceptance rate variations, making resource planning difficult and applicant experience inconsistent.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monthly volume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85%+ accuracy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acceptance probability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90%+ reliability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key drivers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strategic intervention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data-driven planning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914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8,251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Applications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1097280"/>
            <a:ext cx="1828800" cy="914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2022 - Dec 2024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46888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Period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097280"/>
            <a:ext cx="1828800" cy="914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Programs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48056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Categories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1097280"/>
            <a:ext cx="1828800" cy="914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Countries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Reach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Data Preparation Steps: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274320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mixed date formats across 5 temporal columns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6 institutional name variations (4,237 records)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14 derived features (temporal, demographic, behavioral)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 96.4% data retention with zero duplicates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Trends from Exploratory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1: Category Performance Disparity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rates range 96.6% (Engagement) to 21.7% (Internship)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75-point spread indicates different selection dynamics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Internships: 63% of volume, only 22% acceptance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74320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77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2: Seasonal Volume-Acceptance Mismatch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Winter: 46% applications, only 35% acceptance (overload)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Spring/Summer: 37% applications, 61-62% acceptance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2024 peak: 1,459 applications (+380% vs avg)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27432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57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3: Geographic Performance Variation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performers: Pakistan (71%), Egypt (78%), Kenya (74%)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markets: US (40%), India (49%) - lower but high volume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Modeling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828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1: Volume Forecasting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Regression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= 0.85, MAE = 52 apps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±10% accuracy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Capacity planning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2: Acceptance Prediction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6916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Classification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accuracy, 96% precision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recall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Applicant guidance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Methodology: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80/20 chronological train-test split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100-tree ensemble for robust predictions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 for hyperparameter tuning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Insights &amp; Feature Importance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Opportunity Category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0" y="1234440"/>
            <a:ext cx="3328416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620256" y="1188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Opportunity Popularity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691640"/>
            <a:ext cx="1152144" cy="228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4443984" y="16459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Lead Time (Days)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2148840"/>
            <a:ext cx="768096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059936" y="21031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Days Until Start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2606040"/>
            <a:ext cx="512064" cy="228600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14" name="Text 12"/>
          <p:cNvSpPr/>
          <p:nvPr/>
        </p:nvSpPr>
        <p:spPr>
          <a:xfrm>
            <a:off x="3803904" y="2560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Country Group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0" y="3063240"/>
            <a:ext cx="256032" cy="228600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17" name="Text 15"/>
          <p:cNvSpPr/>
          <p:nvPr/>
        </p:nvSpPr>
        <p:spPr>
          <a:xfrm>
            <a:off x="3547872" y="3017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611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is 3× more important than any other factor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Implication: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must prioritize category-specific strategies over demographic targeting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Results &amp; Model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Forecast: Next 6 Months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Expected: 320-450 apps/month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 peak: ~430 apps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 ±98 apps (95%)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Performance: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Accuracy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0" y="1554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89.7%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96.3%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0" y="2286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84.7%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651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0" y="2651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90.1%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Validation: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32004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precision (96%) enables reliable capacity planning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performance supports proactive applicant communication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bias suggests model requires 2024 data recalibration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91440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Category-Specific Marketing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 70% budget to Course/Event (92%+ acceptance) → Acceptance 47% to 55%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91440" cy="914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03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Seasonal Smoothing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January marketing to April-June → Winter acceptance 35% to 42%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108960"/>
            <a:ext cx="9144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8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Internship Bottleneck Resolution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capacity 25% or implement pre-qualification → Acceptance 22% to 27%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976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Timeline: 30-90 Days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5720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1: Deploy pages  |  Month 2: Launch campaigns  |  Month 3: Measure results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highlight>
                  <a:srgbClr val="00808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>
              <a:highlight>
                <a:srgbClr val="008080"/>
              </a:highlight>
            </a:endParaRPr>
          </a:p>
        </p:txBody>
      </p:sp>
      <p:sp>
        <p:nvSpPr>
          <p:cNvPr id="3" name="Shape 1"/>
          <p:cNvSpPr/>
          <p:nvPr/>
        </p:nvSpPr>
        <p:spPr>
          <a:xfrm>
            <a:off x="3200400" y="2286000"/>
            <a:ext cx="27432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112</TotalTime>
  <Words>551</Words>
  <Application>Microsoft Office PowerPoint</Application>
  <PresentationFormat>On-screen Show (16:9)</PresentationFormat>
  <Paragraphs>110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Corbel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SLU Application Analytics - Strategic Insights</dc:title>
  <dc:subject>PptxGenJS Presentation</dc:subject>
  <dc:creator>AI Powered Data Analyst Internship</dc:creator>
  <cp:lastModifiedBy>Komal Karanakota</cp:lastModifiedBy>
  <cp:revision>3</cp:revision>
  <dcterms:created xsi:type="dcterms:W3CDTF">2026-03-06T11:50:34Z</dcterms:created>
  <dcterms:modified xsi:type="dcterms:W3CDTF">2026-03-06T13:50:57Z</dcterms:modified>
</cp:coreProperties>
</file>